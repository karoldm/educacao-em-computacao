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Inicie a apresentação (F5) para as animações rodarem. Mostre o zoom: a foto é feita de quadradinhos. Pergunte quantos pixels a turma acha que a foto tem. Na plataforma cada aluno sobe a própria foto, que é convertida para P&amp;B.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Inicie a apresentação (F5) para as animações rodarem. Cada quadrado guarda um número. A mesma matriz que o aluno vai ver na lupa da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Inicie a apresentação (F5) para as animações rodarem. Com 8 bits temos 2^8 = 256 valores possíveis.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Inicie a apresentação (F5) para as animações rodarem. Analogia: uma receita. Entram os pixels, a regra transforma cada um, saem novos pixels. Note o caso 230 + 40: a regra tem um limite.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Inicie a apresentação (F5) para as animações rodarem. Apenas demonstração: na plataforma os alunos farão isso sozinhos.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Inicie a apresentação (F5) para as animações rodarem. Exemplos reais. Chame atenção ao trade-off: suavizar remove ruído mas apaga detalhes.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que o professor libera cada etapa e que, ao avançar, o tempo da etapa anterior termina.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Inicie a apresentação (F5) para as animações rodarem. Extra: detecção de bordas. A cada pixel, compara os vizinhos: onde há grande diferença, há um contorno. Cada filtro usa a vizinhança.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gif"/><Relationship Id="rId4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4F46E5"/>
                </a:solidFill>
                <a:latin typeface="Calibri"/>
              </a:rPr>
              <a:t>A imagem como uma 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Toda foto digital é uma grade de quadradinhos: os pixels.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Quanto mais pixels, mais detalhe.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Na plataforma, a sua foto (convertida para preto e branco) vira uma grade de 96 × 72 pixels.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5A6478"/>
                </a:solidFill>
                <a:latin typeface="Calibri"/>
              </a:rPr>
              <a:t>Dica: modo apresentação (F5) para ver a animação.</a:t>
            </a:r>
          </a:p>
        </p:txBody>
      </p:sp>
      <p:pic>
        <p:nvPicPr>
          <p:cNvPr id="6" name="Picture 5" descr="zoo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4F46E5"/>
                </a:solidFill>
                <a:latin typeface="Calibri"/>
              </a:rPr>
              <a:t>A matriz de pixels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Cada pixel guarda um número.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0 = preto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255 = branco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Valores no meio = tons de cinza.</a:t>
            </a:r>
          </a:p>
        </p:txBody>
      </p:sp>
      <p:pic>
        <p:nvPicPr>
          <p:cNvPr id="5" name="Picture 4" descr="matriz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371600"/>
            <a:ext cx="740664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4F46E5"/>
                </a:solidFill>
                <a:latin typeface="Calibri"/>
              </a:rPr>
              <a:t>A escala de cinza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Do preto ao branco, passamos por muitos tons.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Com 8 bits há 256 valores possíveis: de 0 a 255.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Foto colorida → cinza: 0,299·R + 0,587·G + 0,114·B (o verde pesa mais, pois o olho enxerga melhor o verde).</a:t>
            </a:r>
          </a:p>
        </p:txBody>
      </p:sp>
      <p:pic>
        <p:nvPicPr>
          <p:cNvPr id="5" name="Picture 4" descr="cinz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371600"/>
            <a:ext cx="7406640" cy="44439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4F46E5"/>
                </a:solidFill>
                <a:latin typeface="Calibri"/>
              </a:rPr>
              <a:t>O que é um filtro?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Um filtro é uma regra (uma receita) aplicada a cada pixel.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Entrada → regra → saída.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Regras também precisam de limites: o branco não passa de 255.</a:t>
            </a:r>
          </a:p>
        </p:txBody>
      </p:sp>
      <p:pic>
        <p:nvPicPr>
          <p:cNvPr id="5" name="Picture 4" descr="receit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7315200" cy="45932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4F46E5"/>
                </a:solidFill>
                <a:latin typeface="Calibri"/>
              </a:rPr>
              <a:t>Uma mesma imagem, diferentes regras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Clarear: p + 40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Escurecer: p − 40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Inverter: 255 − p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D2433"/>
                </a:solidFill>
                <a:latin typeface="Calibri"/>
              </a:rPr>
              <a:t>Mesma foto, regras diferentes, resultados diferentes.</a:t>
            </a:r>
          </a:p>
        </p:txBody>
      </p:sp>
      <p:pic>
        <p:nvPicPr>
          <p:cNvPr id="5" name="Picture 4" descr="regr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6656831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4F46E5"/>
                </a:solidFill>
                <a:latin typeface="Calibri"/>
              </a:rPr>
              <a:t>Onde filtros são úteis?</a:t>
            </a:r>
          </a:p>
        </p:txBody>
      </p:sp>
      <p:pic>
        <p:nvPicPr>
          <p:cNvPr id="4" name="Picture 3" descr="us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11064240" cy="38110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4F46E5"/>
                </a:solidFill>
                <a:latin typeface="Calibri"/>
              </a:rPr>
              <a:t>Atenção: um filtro pode ajudar um objetivo e prejudicar outro (suavizar tira o granulado, mas também apaga detalhes).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4F46E5"/>
                </a:solidFill>
                <a:latin typeface="Calibri"/>
              </a:rPr>
              <a:t>Agora é com você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265176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4F46E5"/>
                </a:solidFill>
                <a:latin typeface="Calibri"/>
              </a:rPr>
              <a:t>1. Aplicar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D2433"/>
                </a:solidFill>
                <a:latin typeface="Calibri"/>
              </a:rPr>
              <a:t>experimente filtros e publique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828800"/>
            <a:ext cx="265176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11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4F46E5"/>
                </a:solidFill>
                <a:latin typeface="Calibri"/>
              </a:rPr>
              <a:t>2. Analisar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8346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D2433"/>
                </a:solidFill>
                <a:latin typeface="Calibri"/>
              </a:rPr>
              <a:t>minijogo Filtro Misterioso: descubra o filtro e suba no ranking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265176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4F46E5"/>
                </a:solidFill>
                <a:latin typeface="Calibri"/>
              </a:rPr>
              <a:t>3. Avaliar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8346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D2433"/>
                </a:solidFill>
                <a:latin typeface="Calibri"/>
              </a:rPr>
              <a:t>julgue regras e limites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828800"/>
            <a:ext cx="265176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2011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4F46E5"/>
                </a:solidFill>
                <a:latin typeface="Calibri"/>
              </a:rPr>
              <a:t>4. Criar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8346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D2433"/>
                </a:solidFill>
                <a:latin typeface="Calibri"/>
              </a:rPr>
              <a:t>monte seu próprio filtro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2433"/>
                </a:solidFill>
                <a:latin typeface="Calibri"/>
              </a:rPr>
              <a:t>O professor libera cada etapa. Quando ele avança, o tempo da etapa termina — aproveite bem!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4F46E5"/>
                </a:solidFill>
                <a:latin typeface="Calibri"/>
              </a:rPr>
              <a:t>Explore outros filtros: contornar</a:t>
            </a:r>
          </a:p>
        </p:txBody>
      </p:sp>
      <p:pic>
        <p:nvPicPr>
          <p:cNvPr id="4" name="Picture 3" descr="contorno_pass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6949440" cy="3648456"/>
          </a:xfrm>
          <a:prstGeom prst="rect">
            <a:avLst/>
          </a:prstGeom>
        </p:spPr>
      </p:pic>
      <p:pic>
        <p:nvPicPr>
          <p:cNvPr id="5" name="Picture 4" descr="contorno_foto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280160"/>
            <a:ext cx="4389120" cy="3291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D2433"/>
                </a:solidFill>
                <a:latin typeface="Calibri"/>
              </a:rPr>
              <a:t>Filtros de contorno comparam cada pixel com seus vizinhos: onde a diferença é grande, há uma borda (as veias das folhas).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D2433"/>
                </a:solidFill>
                <a:latin typeface="Calibri"/>
              </a:rPr>
              <a:t>Na etapa Criar você vai usar os blocos Borda e Suavizar. Desafio: que outros filtros você consegue imaginar? Nitidez, contraste, inverter só as bordas...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